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55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5322"/>
            <a:ext cx="9144000" cy="5143500"/>
          </a:xfrm>
          <a:prstGeom prst="rect">
            <a:avLst/>
          </a:prstGeom>
          <a:solidFill>
            <a:srgbClr val="2155A3">
              <a:alpha val="70000"/>
            </a:srgbClr>
          </a:solidFill>
          <a:ln w="1270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607808" y="128016"/>
            <a:ext cx="1380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99794" y="246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38BDF8"/>
                </a:solidFill>
              </a:rPr>
              <a:t>AUTONOMOUS INTELLIGENT SYSTEMS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685800"/>
            <a:ext cx="658368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786384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60520" y="685800"/>
            <a:ext cx="658368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104" y="786384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20640" y="685800"/>
            <a:ext cx="658368" cy="6583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4" y="786384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58768" y="8778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</a:rPr>
              <a:t>···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18888" y="87782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</a:rPr>
              <a:t>···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74320" y="1481328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RECOGNITION FOR ROBOT CONTROL</a:t>
            </a:r>
            <a:endParaRPr lang="en-US" sz="3600" dirty="0"/>
          </a:p>
        </p:txBody>
      </p:sp>
      <p:sp>
        <p:nvSpPr>
          <p:cNvPr id="16" name="Shape 11"/>
          <p:cNvSpPr/>
          <p:nvPr/>
        </p:nvSpPr>
        <p:spPr>
          <a:xfrm>
            <a:off x="3931920" y="2487168"/>
            <a:ext cx="1280160" cy="34747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3931920" y="24871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VRC — 4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931920" y="2944368"/>
            <a:ext cx="1280160" cy="27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2560319" y="3127248"/>
            <a:ext cx="4571999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2560319" y="3127248"/>
            <a:ext cx="46353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Khushal Singh  (1564813) ·  Raka Sarkar(1567153)  ·  </a:t>
            </a:r>
            <a:r>
              <a:rPr lang="en-US" sz="1100" dirty="0" err="1">
                <a:solidFill>
                  <a:srgbClr val="FFFFFF"/>
                </a:solidFill>
              </a:rPr>
              <a:t>Taibaz</a:t>
            </a:r>
            <a:r>
              <a:rPr lang="en-US" sz="1100" dirty="0">
                <a:solidFill>
                  <a:srgbClr val="FFFFFF"/>
                </a:solidFill>
              </a:rPr>
              <a:t> Pathan(1564714)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432304" y="360062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8BDF8"/>
                </a:solidFill>
              </a:rPr>
              <a:t>Under the guidance of Prof. Dr. Peter Nauth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FCB04B4-A4A9-E3BC-6487-BBAC9580E1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3380" y="155448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2103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64748B"/>
                </a:solidFill>
              </a:rPr>
              <a:t>MOTIVATION &amp; OBJECTIVES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Voice-Controlled Robot Navigation?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1234440"/>
            <a:ext cx="420624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41732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1399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Control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0624" y="18288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Enable intuitive, hands-free navigation of a robot in a lab environment — no specialised controllers required.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0016" y="1234440"/>
            <a:ext cx="4206240" cy="16916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41732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0096" y="1399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Integration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64608" y="18288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Integrate a fully offline speech pipeline with the ROS 2 middleware and Gazebo physics simulation.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56032" y="3127248"/>
            <a:ext cx="4206240" cy="16916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331012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20624" y="372160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Demonstrate a complete pipeline: audio input → ASR → intent classification → safety gate → robot motion.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0016" y="3127248"/>
            <a:ext cx="4206240" cy="169164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31012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0096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Framework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864608" y="372160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Deliver a modular, configurable framework reusable for future student projects beyond navigation.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819179A-9D20-D9E3-8EBE-A58C31933C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5894" y="128016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2103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64748B"/>
                </a:solidFill>
              </a:rPr>
              <a:t>SYSTEM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Five-Node ROS 2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1353312"/>
            <a:ext cx="1389888" cy="1005840"/>
          </a:xfrm>
          <a:prstGeom prst="rect">
            <a:avLst/>
          </a:prstGeom>
          <a:solidFill>
            <a:srgbClr val="DBEAFE"/>
          </a:solidFill>
          <a:ln w="1905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" y="1444752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AudioInput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Node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" y="2066544"/>
            <a:ext cx="1243584" cy="219456"/>
          </a:xfrm>
          <a:prstGeom prst="rect">
            <a:avLst/>
          </a:prstGeom>
          <a:solidFill>
            <a:srgbClr val="2155A3"/>
          </a:solidFill>
          <a:ln w="1270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" y="20665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/audio/raw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682496" y="185623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819656" y="176760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01952" y="1353312"/>
            <a:ext cx="1389888" cy="1005840"/>
          </a:xfrm>
          <a:prstGeom prst="rect">
            <a:avLst/>
          </a:prstGeom>
          <a:solidFill>
            <a:srgbClr val="D1FAE5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01952" y="1444752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ASR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Node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75104" y="2066544"/>
            <a:ext cx="1243584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975104" y="20665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/asr/text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328416" y="185623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65576" y="176760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47872" y="1353312"/>
            <a:ext cx="1389888" cy="100584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47872" y="1444752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Intent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Node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21024" y="2066544"/>
            <a:ext cx="1243584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21024" y="20665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/asr/intent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974336" y="185623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23454" y="176760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93792" y="1353312"/>
            <a:ext cx="1389888" cy="1005840"/>
          </a:xfrm>
          <a:prstGeom prst="rect">
            <a:avLst/>
          </a:prstGeom>
          <a:solidFill>
            <a:srgbClr val="FCE7F3"/>
          </a:solidFill>
          <a:ln w="1905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93792" y="1444752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StateMachine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Node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66944" y="2066544"/>
            <a:ext cx="1243584" cy="219456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266944" y="20665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/voice/command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620256" y="185623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739128" y="175775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39712" y="1353312"/>
            <a:ext cx="1389888" cy="10058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39712" y="1444752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Command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Node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12864" y="2066544"/>
            <a:ext cx="1243584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912864" y="206654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/cmd_vel</a:t>
            </a:r>
            <a:endParaRPr lang="en-US" sz="7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542032"/>
          <a:ext cx="8631936" cy="20848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8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AudioInputNode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/audio/raw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Injects WAV file paths at 5 s intervals for deterministic evaluation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ASRNode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/audio/raw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/asr/text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Normalise → VAD → Whisper small int8; publishes if conf ≥ 0.40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IntentNode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/asr/text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/asr/intent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RapidFuzz fuzzy match; threshold 75; min(ASR_conf, fuzzy_score)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StateMachineNode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/asr/intent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/voice/command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IDLE→WAITING→EXECUTING FSM; YES/NO gate; 5 s timeout; emergency STOP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CommandNode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/voice/command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/cmd_vel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Translates commands to geometry_msgs/Twist at 10 Hz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9" name="Picture 38">
            <a:extLst>
              <a:ext uri="{FF2B5EF4-FFF2-40B4-BE49-F238E27FC236}">
                <a16:creationId xmlns:a16="http://schemas.microsoft.com/office/drawing/2014/main" id="{4BEC867E-6821-8890-C6E0-E259B9DEF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06" y="155448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2103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64748B"/>
                </a:solidFill>
              </a:rPr>
              <a:t>ASR MODULE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Processing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82128" y="9144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FRANKFURT
</a:t>
            </a:r>
            <a:r>
              <a:rPr lang="en-US" sz="650" dirty="0">
                <a:solidFill>
                  <a:srgbClr val="FFFFFF"/>
                </a:solidFill>
              </a:rPr>
              <a:t>UNIVERSITY
</a:t>
            </a:r>
            <a:r>
              <a:rPr lang="en-US" sz="550" dirty="0">
                <a:solidFill>
                  <a:srgbClr val="FFFFFF"/>
                </a:solidFill>
              </a:rPr>
              <a:t>OF APPLIED SCIENCES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1234440"/>
            <a:ext cx="279806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20624" y="1353312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0624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A"/>
                </a:solidFill>
              </a:rPr>
              <a:t>Normalise + VAD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" y="1847088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Mono → 16 kHz resample → peak normalise. Fixed RMS threshold 0.01 on 20 ms frames removes silence. Adaptive VAD was prototyped but reverted — Edge TTS mean-RMS caused regression.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" y="4251960"/>
            <a:ext cx="24688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20624" y="4251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= 0.01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234440"/>
            <a:ext cx="279806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364992" y="1353312"/>
            <a:ext cx="384048" cy="384048"/>
          </a:xfrm>
          <a:prstGeom prst="rect">
            <a:avLst/>
          </a:prstGeom>
          <a:solidFill>
            <a:srgbClr val="2155A3"/>
          </a:solidFill>
          <a:ln w="1270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64992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A"/>
                </a:solidFill>
              </a:rPr>
              <a:t>Whisper Transcription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64992" y="1847088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faster-whisper small int8 on CPU. initial_prompt primes decoder to the 5-command vocabulary — this was the key improvement: raised noisy accuracy from 73% → 97.3%.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64992" y="4251960"/>
            <a:ext cx="24688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64992" y="4251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initial_prompt = "move forward..."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44768" y="1234440"/>
            <a:ext cx="279806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309360" y="1353312"/>
            <a:ext cx="38404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0936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84848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A"/>
                </a:solidFill>
              </a:rPr>
              <a:t>Confidence Score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09360" y="1847088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conf = min(1.0, exp(mean_avg_logprob)). Whisper small short-command logprobs map to conf in [0.37, 0.61]. Operational threshold set at 0.40 (not original 0.75).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4251960"/>
            <a:ext cx="24688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09360" y="42519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= 0.40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07BF43A-3D21-D5BB-C2E4-83FFE2E1F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380" y="187452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2103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64748B"/>
                </a:solidFill>
              </a:rPr>
              <a:t>INTENT &amp; SAFETY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 + Safety State Machine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82128" y="9144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FRANKFURT
</a:t>
            </a:r>
            <a:r>
              <a:rPr lang="en-US" sz="650" dirty="0">
                <a:solidFill>
                  <a:srgbClr val="FFFFFF"/>
                </a:solidFill>
              </a:rPr>
              <a:t>UNIVERSITY
</a:t>
            </a:r>
            <a:r>
              <a:rPr lang="en-US" sz="550" dirty="0">
                <a:solidFill>
                  <a:srgbClr val="FFFFFF"/>
                </a:solidFill>
              </a:rPr>
              <a:t>OF APPLIED SCIENCES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1207008"/>
            <a:ext cx="4114800" cy="36118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8912" y="1316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Intent Module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" y="1792224"/>
            <a:ext cx="73152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912" y="17922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Vocabulary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61872" y="1755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5 commands: move forward/backward, turn left/right, stop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450592"/>
            <a:ext cx="73152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38912" y="24505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Fuzzy Match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61872" y="24140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RapidFuzz weighted ratio — threshold 75/100 (raised from 60 to prevent 'turn light'→'turn right' at 67)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" y="3108960"/>
            <a:ext cx="73152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38912" y="31089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Confidence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61872" y="30723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conf_final = min(conf_ASR, fuzzy_score/100)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" y="3767328"/>
            <a:ext cx="73152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38912" y="37673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61872" y="37307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3A"/>
                </a:solidFill>
              </a:rPr>
              <a:t>conf_final &lt; 0.40 → NO_COMMAND silently rejected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207008"/>
            <a:ext cx="4224528" cy="361188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46320" y="13167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</a:rPr>
              <a:t>Safety State Machine (FSM)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1847088"/>
            <a:ext cx="2377440" cy="420624"/>
          </a:xfrm>
          <a:prstGeom prst="rect">
            <a:avLst/>
          </a:prstGeom>
          <a:solidFill>
            <a:srgbClr val="DBEAFE"/>
          </a:solidFill>
          <a:ln w="1905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0" y="18470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A3A"/>
                </a:solidFill>
              </a:rPr>
              <a:t>IDLE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2560320"/>
            <a:ext cx="2377440" cy="420624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172200" y="25603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A3A"/>
                </a:solidFill>
              </a:rPr>
              <a:t>WAITING_CONFIRMATION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291840"/>
            <a:ext cx="2377440" cy="420624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46320" y="329184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A3A"/>
                </a:solidFill>
              </a:rPr>
              <a:t>EXECUTING (transient)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23042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valid cmd, conf≥0.40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77840" y="30540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"yes" confirmed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73168" y="27249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"no" / timeout 5s → back to IDLE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46320" y="4023360"/>
            <a:ext cx="3858768" cy="51206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19472" y="4041648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⚡ Emergency STOP: conf &gt; 0.90 → bypass confirmation → execute immediately</a:t>
            </a:r>
            <a:endParaRPr lang="en-US" sz="9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E33119E-2451-5EF7-087F-6FDDE030E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380" y="155448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1354" y="201168"/>
            <a:ext cx="292608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2103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64748B"/>
                </a:solidFill>
              </a:rPr>
              <a:t>ROS 2 NODE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 – AudioInputNode  →  Node 2 – ASRNode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82128" y="9144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FRANKFURT
</a:t>
            </a:r>
            <a:r>
              <a:rPr lang="en-US" sz="650" dirty="0">
                <a:solidFill>
                  <a:srgbClr val="FFFFFF"/>
                </a:solidFill>
              </a:rPr>
              <a:t>UNIVERSITY
</a:t>
            </a:r>
            <a:r>
              <a:rPr lang="en-US" sz="550" dirty="0">
                <a:solidFill>
                  <a:srgbClr val="FFFFFF"/>
                </a:solidFill>
              </a:rPr>
              <a:t>OF APPLIED SCIENCES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1207008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1207008"/>
            <a:ext cx="256032" cy="3566160"/>
          </a:xfrm>
          <a:prstGeom prst="rect">
            <a:avLst/>
          </a:prstGeom>
          <a:solidFill>
            <a:srgbClr val="2155A3"/>
          </a:solidFill>
          <a:ln w="1270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13167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55A3"/>
                </a:solidFill>
              </a:rPr>
              <a:t>AudioInputNode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1719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Python / rclpy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029968"/>
            <a:ext cx="1645920" cy="237744"/>
          </a:xfrm>
          <a:prstGeom prst="rect">
            <a:avLst/>
          </a:prstGeom>
          <a:solidFill>
            <a:srgbClr val="DBEAFE"/>
          </a:solidFill>
          <a:ln w="635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029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5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→ /audio/raw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41401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▸  Injects pre-recorded WAV paths at 5 s intervals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88950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▸  File injection ensures fully deterministic, repeatable evaluation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36499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▸  No microphone hardware dependency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▸  Enables full 400-sample batch testing without manual input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207008"/>
            <a:ext cx="42245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63440" y="1207008"/>
            <a:ext cx="256032" cy="3566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47488" y="13167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ASRNode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47488" y="1719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asr_module.asr_engine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47488" y="2029968"/>
            <a:ext cx="1828800" cy="237744"/>
          </a:xfrm>
          <a:prstGeom prst="rect">
            <a:avLst/>
          </a:prstGeom>
          <a:solidFill>
            <a:srgbClr val="DBEAFE"/>
          </a:solidFill>
          <a:ln w="635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47488" y="20299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5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 ← /audio/raw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47488" y="2340864"/>
            <a:ext cx="1828800" cy="237744"/>
          </a:xfrm>
          <a:prstGeom prst="rect">
            <a:avLst/>
          </a:prstGeom>
          <a:solidFill>
            <a:srgbClr val="D1FAE5"/>
          </a:solidFill>
          <a:ln w="63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47488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→ /asr/text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47488" y="27249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▸  Normalise → VAD (0.01 threshold) → Whisper small int8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47488" y="32004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▸  initial_prompt biases decoder to 5-command vocabulary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47488" y="36758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▸  conf = min(1.0, exp(mean_avg_logprob)) — gate at 0.40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47488" y="41513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▸  normalize_text() fixes Whisper phonetic substitution errors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3D51F1A-211C-9015-1F35-C426627B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06" y="178308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2103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64748B"/>
                </a:solidFill>
              </a:rPr>
              <a:t>ROS 2 NODE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393192"/>
            <a:ext cx="8595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5 – CommandNode: Voice-to-Motion Mapping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82128" y="9144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FRANKFURT
</a:t>
            </a:r>
            <a:r>
              <a:rPr lang="en-US" sz="650" dirty="0">
                <a:solidFill>
                  <a:srgbClr val="FFFFFF"/>
                </a:solidFill>
              </a:rPr>
              <a:t>UNIVERSITY
</a:t>
            </a:r>
            <a:r>
              <a:rPr lang="en-US" sz="550" dirty="0">
                <a:solidFill>
                  <a:srgbClr val="FFFFFF"/>
                </a:solidFill>
              </a:rPr>
              <a:t>OF APPLIED SCIENCES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1207008"/>
            <a:ext cx="3291840" cy="35661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8912" y="13167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55A3"/>
                </a:solidFill>
              </a:rPr>
              <a:t>CommandNode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" y="1737360"/>
            <a:ext cx="1828800" cy="237744"/>
          </a:xfrm>
          <a:prstGeom prst="rect">
            <a:avLst/>
          </a:prstGeom>
          <a:solidFill>
            <a:srgbClr val="DBEAFE"/>
          </a:solidFill>
          <a:ln w="635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912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15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 ← /voice/command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" y="2048256"/>
            <a:ext cx="1463040" cy="237744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" y="2048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→ /cmd_vel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2423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▸  Translates command tokens to geometry_msgs/Twist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95351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▸  Publishes velocity at 10 Hz for duration, then sends zero-velocity stop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48386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A3A"/>
                </a:solidFill>
              </a:rPr>
              <a:t>▸  Safety: stop dispatched immediately (bypass timer)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207008"/>
          <a:ext cx="5120640" cy="263347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linear.x (m/s)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angular.z (rad/s)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forward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backward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left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749040" y="43159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Published at 10 Hz via /cmd_vel · Zero-velocity Twist sent after duration to stop robot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5623287-0446-05C3-61B4-5F68679BA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380" y="155448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2103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64748B"/>
                </a:solidFill>
              </a:rPr>
              <a:t>GAZEBO ENVIRONMENT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Model and Simulation World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1207008"/>
            <a:ext cx="2798064" cy="14813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1207008"/>
            <a:ext cx="164592" cy="1481328"/>
          </a:xfrm>
          <a:prstGeom prst="rect">
            <a:avLst/>
          </a:prstGeom>
          <a:solidFill>
            <a:srgbClr val="2155A3"/>
          </a:solidFill>
          <a:ln w="1270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0352" y="1335024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A"/>
                </a:solidFill>
              </a:rPr>
              <a:t>Custom URDF Humanoid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1700784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Base, pelvis, torso, head, arms, eyes, mouth — plus differential drive wheel base (ROSWITHA model)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207008"/>
            <a:ext cx="2798064" cy="14813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0" y="1207008"/>
            <a:ext cx="164592" cy="14813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0" y="1335024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A"/>
                </a:solidFill>
              </a:rPr>
              <a:t>Differential Drive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1700784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Wheels linked via left_wheel_joint and right_wheel_joint — gazebo_ros_diff_drive plugin with wheel separation &amp; radius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44768" y="1207008"/>
            <a:ext cx="2798064" cy="1481328"/>
          </a:xfrm>
          <a:prstGeom prst="rect">
            <a:avLst/>
          </a:prstGeom>
          <a:solidFill>
            <a:srgbClr val="FFF7ED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44768" y="1207008"/>
            <a:ext cx="164592" cy="14813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19088" y="1335024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A"/>
                </a:solidFill>
              </a:rPr>
              <a:t>Gazebo Plugin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19088" y="1700784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gazebo_ros_diff_drive configured; subscribes to /cmd_vel; converts velocity commands to wheel rotations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2834640"/>
            <a:ext cx="4224528" cy="1481328"/>
          </a:xfrm>
          <a:prstGeom prst="rect">
            <a:avLst/>
          </a:prstGeom>
          <a:solidFill>
            <a:srgbClr val="F5F3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6032" y="2834640"/>
            <a:ext cx="164592" cy="1481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30352" y="2962656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A"/>
                </a:solidFill>
              </a:rPr>
              <a:t>University Lab World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0352" y="3328416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Floor, walls, blackboard, laptop desks, stool, equipment cart, props — realistic indoor lab environment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18304" y="2834640"/>
            <a:ext cx="4224528" cy="148132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18304" y="2834640"/>
            <a:ext cx="164592" cy="1481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92624" y="2962656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3A"/>
                </a:solidFill>
              </a:rPr>
              <a:t>Camera Setup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92624" y="3328416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Viewpoint configured for clear observation of robot motion during evaluation; side and top-down views</a:t>
            </a:r>
            <a:endParaRPr lang="en-US" sz="9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EA3772C-BDBE-4472-5AFD-6859BD64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380" y="155448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2103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64748B"/>
                </a:solidFill>
              </a:rPr>
              <a:t>DATA 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Topic-Level Data Flow — Full 5-Node Pipeline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82128" y="9144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FRANKFURT
</a:t>
            </a:r>
            <a:r>
              <a:rPr lang="en-US" sz="650" dirty="0">
                <a:solidFill>
                  <a:srgbClr val="FFFFFF"/>
                </a:solidFill>
              </a:rPr>
              <a:t>UNIVERSITY
</a:t>
            </a:r>
            <a:r>
              <a:rPr lang="en-US" sz="550" dirty="0">
                <a:solidFill>
                  <a:srgbClr val="FFFFFF"/>
                </a:solidFill>
              </a:rPr>
              <a:t>OF APPLIED SCIENCES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1645920"/>
            <a:ext cx="1389888" cy="1051560"/>
          </a:xfrm>
          <a:prstGeom prst="rect">
            <a:avLst/>
          </a:prstGeom>
          <a:solidFill>
            <a:srgbClr val="DBEAFE"/>
          </a:solidFill>
          <a:ln w="2540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" y="17190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AudioInput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Node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" y="2359152"/>
            <a:ext cx="1243584" cy="256032"/>
          </a:xfrm>
          <a:prstGeom prst="rect">
            <a:avLst/>
          </a:prstGeom>
          <a:solidFill>
            <a:srgbClr val="2155A3"/>
          </a:solidFill>
          <a:ln w="1270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" y="235915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/audio/raw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73352" y="217170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801368" y="20802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01952" y="1645920"/>
            <a:ext cx="1389888" cy="1051560"/>
          </a:xfrm>
          <a:prstGeom prst="rect">
            <a:avLst/>
          </a:prstGeom>
          <a:solidFill>
            <a:srgbClr val="D1FAE5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01952" y="17190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ASR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Node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75104" y="2359152"/>
            <a:ext cx="1243584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975104" y="235915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/asr/text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19272" y="217170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47288" y="207393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47872" y="1645920"/>
            <a:ext cx="1389888" cy="105156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47872" y="17190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Intent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Node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21024" y="2359152"/>
            <a:ext cx="1243584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21024" y="235915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/asr/intent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65192" y="217170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02352" y="20802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93792" y="1645920"/>
            <a:ext cx="1389888" cy="1051560"/>
          </a:xfrm>
          <a:prstGeom prst="rect">
            <a:avLst/>
          </a:prstGeom>
          <a:solidFill>
            <a:srgbClr val="FCE7F3"/>
          </a:solidFill>
          <a:ln w="254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93792" y="17190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StateMachine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Node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66944" y="2359152"/>
            <a:ext cx="1243584" cy="25603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266944" y="235915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/voice/command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11112" y="2171700"/>
            <a:ext cx="20116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720840" y="207393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39712" y="1645920"/>
            <a:ext cx="1389888" cy="105156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39712" y="171907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Command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Node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12864" y="2359152"/>
            <a:ext cx="1243584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912864" y="235915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/cmd_vel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129016" y="1691640"/>
            <a:ext cx="786384" cy="86868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119872" y="1755648"/>
            <a:ext cx="78638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A3A"/>
                </a:solidFill>
              </a:rPr>
              <a:t>Gazebo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A3A"/>
                </a:solidFill>
              </a:rPr>
              <a:t>diff_drive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45552" y="217170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028432" y="208201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2944368"/>
            <a:ext cx="8631936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38912" y="2999232"/>
            <a:ext cx="8266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</a:rPr>
              <a:t>All components loosely coupled via ROS 2 topics — any node can be replaced independently (e.g. swap ASR engine, add live microphone node, upgrade to navigation stack).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6032" y="379476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3A"/>
                </a:solidFill>
              </a:rPr>
              <a:t>Key Topics: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6032" y="4059936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/audio/raw  — String (WAV path)   ·   /asr/text  — String (transcript + conf)   ·   /asr/intent  — String (intent token)   ·   /voice/command  — String (confirmed cmd)   ·   /cmd_vel  — geometry_msgs/Twist</a:t>
            </a:r>
            <a:endParaRPr lang="en-US" sz="9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E859A54-A54D-519A-5F9E-D02B2F10C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380" y="155448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2103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64748B"/>
                </a:solidFill>
              </a:rPr>
              <a:t>EVALUATION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400 Samples · 20 Speakers · 4 Conditions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82128" y="9144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FRANKFURT
</a:t>
            </a:r>
            <a:r>
              <a:rPr lang="en-US" sz="650" dirty="0">
                <a:solidFill>
                  <a:srgbClr val="FFFFFF"/>
                </a:solidFill>
              </a:rPr>
              <a:t>UNIVERSITY
</a:t>
            </a:r>
            <a:r>
              <a:rPr lang="en-US" sz="550" dirty="0">
                <a:solidFill>
                  <a:srgbClr val="FFFFFF"/>
                </a:solidFill>
              </a:rPr>
              <a:t>OF APPLIED SCIENCES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1207008"/>
            <a:ext cx="2057400" cy="169164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1207008"/>
            <a:ext cx="2057400" cy="164592"/>
          </a:xfrm>
          <a:prstGeom prst="rect">
            <a:avLst/>
          </a:prstGeom>
          <a:solidFill>
            <a:srgbClr val="2155A3"/>
          </a:solidFill>
          <a:ln w="1270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13716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155A3"/>
                </a:solidFill>
              </a:rPr>
              <a:t>400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6032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Total Samples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23225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100 clean + 300 noisy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68880" y="1207008"/>
            <a:ext cx="2057400" cy="169164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468880" y="1207008"/>
            <a:ext cx="20574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68880" y="13716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</a:rPr>
              <a:t>20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2468880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Accent Profiles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3225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American, British, Indian,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Australian, Nigerian + 10 more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81728" y="1207008"/>
            <a:ext cx="2057400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81728" y="1207008"/>
            <a:ext cx="205740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81728" y="13716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97706"/>
                </a:solidFill>
              </a:rPr>
              <a:t>3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681728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SNR Noise Levels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81728" y="23225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20 dB / 10 dB / 0 dB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(equal signal &amp; noise power)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94576" y="1207008"/>
            <a:ext cx="2057400" cy="1691640"/>
          </a:xfrm>
          <a:prstGeom prst="rect">
            <a:avLst/>
          </a:prstGeom>
          <a:solidFill>
            <a:srgbClr val="FCE7F3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894576" y="1207008"/>
            <a:ext cx="2057400" cy="16459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894576" y="13716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E185D"/>
                </a:solidFill>
              </a:rPr>
              <a:t>20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6894576" y="20299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OOV Utterances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94576" y="23225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False activation 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 voices, 20 phrases</a:t>
            </a:r>
            <a:endParaRPr lang="en-US" sz="8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035808"/>
          <a:ext cx="7443216" cy="20421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TTS Voices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spk 1–2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en-US-Guy / en-US-Jenny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American M/F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spk 3–4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en-GB-Ryan / en-GB-Sonia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British M/F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spk 5–6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en-IN-Neerja / en-IN-Prabhat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F/M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spk 7–8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en-AU-William / en-AU-Natasha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Australian M/F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spk 9–20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Nigerian, Irish, S.African, Canadian, NZ, Singaporean, Kenyan, Filipino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 M/F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FF0D4ECA-E6CB-106A-C9E3-315F3614E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380" y="155448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2103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64748B"/>
                </a:solidFill>
              </a:rPr>
              <a:t>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KPIs Met or Exceeded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82128" y="9144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FRANKFURT
</a:t>
            </a:r>
            <a:r>
              <a:rPr lang="en-US" sz="650" dirty="0">
                <a:solidFill>
                  <a:srgbClr val="FFFFFF"/>
                </a:solidFill>
              </a:rPr>
              <a:t>UNIVERSITY
</a:t>
            </a:r>
            <a:r>
              <a:rPr lang="en-US" sz="550" dirty="0">
                <a:solidFill>
                  <a:srgbClr val="FFFFFF"/>
                </a:solidFill>
              </a:rPr>
              <a:t>OF APPLIED SCIENCES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1207008"/>
            <a:ext cx="2057400" cy="157276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" y="12618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</a:rPr>
              <a:t>99.0%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6032" y="19019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+14 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" y="2176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Clean Accuracy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24323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99/100 · Target &gt;85%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68880" y="1207008"/>
            <a:ext cx="2057400" cy="157276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68880" y="12618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155A3"/>
                </a:solidFill>
              </a:rPr>
              <a:t>97.3%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468880" y="19019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+27 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2176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Noisy Accuracy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24323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292/300 · Target &gt;70%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81728" y="1207008"/>
            <a:ext cx="2057400" cy="15727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81728" y="12618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97706"/>
                </a:solidFill>
              </a:rPr>
              <a:t>0.0%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681728" y="19019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Perfect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81728" y="2176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False Activations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81728" y="24323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0/20 OOV · Target &lt;2%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94576" y="1207008"/>
            <a:ext cx="2057400" cy="1572768"/>
          </a:xfrm>
          <a:prstGeom prst="rect">
            <a:avLst/>
          </a:prstGeom>
          <a:solidFill>
            <a:srgbClr val="EDE9FE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94576" y="1261872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</a:rPr>
              <a:t>1.55s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894576" y="19019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3.2× margin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94576" y="21762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3A"/>
                </a:solidFill>
              </a:rPr>
              <a:t>Mean Latency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94576" y="24323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noisy set · Target &lt;5s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6032" y="2907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A"/>
                </a:solidFill>
              </a:rPr>
              <a:t>Per Noise Condition</a:t>
            </a:r>
            <a:endParaRPr lang="en-US" sz="11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182112"/>
          <a:ext cx="4023360" cy="1463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&gt;85% 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20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&gt;70% 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10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&gt;70% 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0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&gt;70% 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4572000" y="290779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A"/>
                </a:solidFill>
              </a:rPr>
              <a:t>Per Command</a:t>
            </a:r>
            <a:endParaRPr lang="en-US" sz="11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182112"/>
          <a:ext cx="4315968" cy="175564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forward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backward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left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right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4" name="Picture 33">
            <a:extLst>
              <a:ext uri="{FF2B5EF4-FFF2-40B4-BE49-F238E27FC236}">
                <a16:creationId xmlns:a16="http://schemas.microsoft.com/office/drawing/2014/main" id="{5620CD8F-442F-2800-B577-008E7B92B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380" y="155448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" y="21031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64748B"/>
                </a:solidFill>
              </a:rPr>
              <a:t>CHALLENGES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Challenges &amp; Solutions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8288" y="497205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228600" y="4974336"/>
            <a:ext cx="73152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1207008"/>
            <a:ext cx="8631936" cy="111556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1207008"/>
            <a:ext cx="20116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Problem: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89888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A3A"/>
                </a:solidFill>
              </a:rPr>
              <a:t>Confidence threshold 0.75 blocked all commands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Root cause: Whisper small short-command logprobs → exp(avg_logprob) in [0.37, 0.61]. At 0.75, 97% of valid commands rejected.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1920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</a:rPr>
              <a:t>✓  Solution: Calibrated threshold to 0.40 using confidence distribution of 300 noisy samples. [0.40, 0.75) bucket: 99.4% accuracy.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2459736"/>
            <a:ext cx="8631936" cy="111556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56032" y="2459736"/>
            <a:ext cx="201168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6928" y="2532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</a:rPr>
              <a:t>Problem: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89888" y="2532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A3A"/>
                </a:solidFill>
              </a:rPr>
              <a:t>Adaptive VAD caused accuracy collapse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28437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Root cause: mean_RMS × 1.5 ceiling of 0.05 trimmed valid speech. Edge TTS audio has higher mean RMS than human speech → SNR 10/20 dB regression from 88% → 43%.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17296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</a:rPr>
              <a:t>✓  Solution: Reverted to fixed threshold = 0.01. Stable across all 20 speakers and all 3 SNR levels.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712464"/>
            <a:ext cx="8631936" cy="111556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6032" y="3712464"/>
            <a:ext cx="201168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6928" y="3785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Problem: 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89888" y="3785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A3A"/>
                </a:solidFill>
              </a:rPr>
              <a:t>log_prob_threshold = −0.5 zeroed confidence on clean audio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40965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Root cause: Whisper per-token logprobs for short 1–2 word commands fall below −0.5 normally (exp(−0.5) ≈ 0.61). All clean samples returned conf = 0.0.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44256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</a:rPr>
              <a:t>✓  Solution: Reset to −2.0 (effectively disabled). Downstream confidence gate at 0.40 handles rejection without suppressing valid segments.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B43A80D-9E50-FDB1-24C8-005818354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380" y="155448"/>
            <a:ext cx="892628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155A3">
              <a:alpha val="60000"/>
            </a:srgbClr>
          </a:solidFill>
          <a:ln w="12700">
            <a:solidFill>
              <a:srgbClr val="2155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011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38BDF8"/>
                </a:solidFill>
              </a:rPr>
              <a:t>CONCLUSIONS &amp; FUTURE 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Outlook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6032" y="1207008"/>
            <a:ext cx="4114800" cy="301752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8912" y="1316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✓  Conclusions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179222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All 5 KPIs met or exceeded — 99% clean, 97.3% noisy, 0% FAR, 1.55s latency, 100% safety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faster-whisper small int8 achieves real-time-adjacent ASR on CPU without GPU or cloud dependency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27797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initial_prompt was the decisive improvement: raised noisy accuracy from 73% → 97.3%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3273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Safety FSM prevents any unconfirmed robot motion; emergency STOP bypasses confirmation at conf &gt; 0.90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767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20-accent, 400-sample corpus demonstrates strong speaker independence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07008"/>
            <a:ext cx="4224528" cy="301752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0" y="13167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→  Future Work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792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Live microphone node with real-time streaming VAD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Physical ROSWITHA / TurtleBot deployment under real acoustic conditions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7797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Vocabulary expansion with re-calibrated fuzzy threshold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273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Whisper fine-tuning on robotics commands for underperforming accents (Indian Female, spk4 stop)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▸  Platt scaling for calibrated confidence estimates from log-probability proxy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334256"/>
            <a:ext cx="9144000" cy="3154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92608" y="4362391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Clean 99.0%  ·  SNR 0dB 97.0%  ·  SNR 10dB 98.0%  ·  SNR 20dB 97.0%  ·  FAR 0.0%  ·  Latency 1.55s  ·  Safety 5/5  ✓ All KPIs Passed</a:t>
            </a:r>
            <a:endParaRPr lang="en-US" sz="9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8387A8D-FCE6-D6C5-3C04-B2C267422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340" y="208554"/>
            <a:ext cx="892628" cy="374904"/>
          </a:xfrm>
          <a:prstGeom prst="rect">
            <a:avLst/>
          </a:prstGeom>
        </p:spPr>
      </p:pic>
      <p:sp>
        <p:nvSpPr>
          <p:cNvPr id="25" name="Shape 4">
            <a:extLst>
              <a:ext uri="{FF2B5EF4-FFF2-40B4-BE49-F238E27FC236}">
                <a16:creationId xmlns:a16="http://schemas.microsoft.com/office/drawing/2014/main" id="{A4EAAC76-4ABF-15BA-6357-95D86D6BC723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57F915-F2B7-20D1-B7CF-0DAB20FF9F44}"/>
              </a:ext>
            </a:extLst>
          </p:cNvPr>
          <p:cNvSpPr txBox="1"/>
          <p:nvPr/>
        </p:nvSpPr>
        <p:spPr>
          <a:xfrm>
            <a:off x="84406" y="4942332"/>
            <a:ext cx="45790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</a:rPr>
              <a:t>M.Eng. Information Technology / WS 25-26 / Autonomous Intelligent Systems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BFF98BC-C774-ED15-1C14-7EC88AF48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55" y="482599"/>
            <a:ext cx="7428089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2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1949</Words>
  <Application>Microsoft Macintosh PowerPoint</Application>
  <PresentationFormat>On-screen Show (16:9)</PresentationFormat>
  <Paragraphs>357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Recognition for Robot Control – VRC-4</dc:title>
  <dc:subject>PptxGenJS Presentation</dc:subject>
  <dc:creator>VRC-4 Team</dc:creator>
  <cp:lastModifiedBy>Singh, Khushal</cp:lastModifiedBy>
  <cp:revision>6</cp:revision>
  <dcterms:created xsi:type="dcterms:W3CDTF">2026-03-20T15:14:29Z</dcterms:created>
  <dcterms:modified xsi:type="dcterms:W3CDTF">2026-03-20T19:36:06Z</dcterms:modified>
</cp:coreProperties>
</file>